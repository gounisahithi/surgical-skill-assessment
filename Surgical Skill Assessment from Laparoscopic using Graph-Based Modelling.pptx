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58" r:id="rId5"/>
    <p:sldId id="259" r:id="rId6"/>
    <p:sldId id="260" r:id="rId7"/>
    <p:sldId id="261" r:id="rId8"/>
    <p:sldId id="264" r:id="rId9"/>
    <p:sldId id="265" r:id="rId10"/>
    <p:sldId id="267" r:id="rId11"/>
    <p:sldId id="268" r:id="rId12"/>
    <p:sldId id="269"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DA7C7-9456-65E6-FF9C-368CC7B322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34E79C-A39C-14D6-D099-E32A98F6EA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E20167-4570-B6FA-841F-78146F76A06F}"/>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5" name="Footer Placeholder 4">
            <a:extLst>
              <a:ext uri="{FF2B5EF4-FFF2-40B4-BE49-F238E27FC236}">
                <a16:creationId xmlns:a16="http://schemas.microsoft.com/office/drawing/2014/main" id="{2E01F3DC-FADF-2645-0174-B6860C701F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838109-DDF6-1550-1040-3DFAC9ACBBC5}"/>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919843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F3F24-B2C5-2A8A-70B4-44415D29B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9A409A-0751-641E-1F2A-FBD9A3BC03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459BE6-A732-56A6-A115-E90179D7DEF9}"/>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5" name="Footer Placeholder 4">
            <a:extLst>
              <a:ext uri="{FF2B5EF4-FFF2-40B4-BE49-F238E27FC236}">
                <a16:creationId xmlns:a16="http://schemas.microsoft.com/office/drawing/2014/main" id="{A170EEEE-DBA8-FAD2-9A74-2BF86CD17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032721-8816-F413-B9EE-1C903FB3F39F}"/>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4093870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6E26F-2726-5BB6-82EB-7E27607777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94CD8B-D825-76DA-E277-F55A746321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AF85F-8F7F-5FC6-C3B1-FE6A7D835ED2}"/>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5" name="Footer Placeholder 4">
            <a:extLst>
              <a:ext uri="{FF2B5EF4-FFF2-40B4-BE49-F238E27FC236}">
                <a16:creationId xmlns:a16="http://schemas.microsoft.com/office/drawing/2014/main" id="{8E09CF75-ADA4-57B4-5BE7-FA77DF7777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8E94F-3B7A-7347-4AC6-DC0AD836510E}"/>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1515732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57D8D-A14F-294F-0545-4D72272C09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E0C02A-D532-7542-1D9D-2DC08B9120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4AACAE-5CD7-7EA0-ACCB-C54A333377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97C778-45CA-E75A-1BAB-CA5B8CF903BF}"/>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6" name="Footer Placeholder 5">
            <a:extLst>
              <a:ext uri="{FF2B5EF4-FFF2-40B4-BE49-F238E27FC236}">
                <a16:creationId xmlns:a16="http://schemas.microsoft.com/office/drawing/2014/main" id="{60359329-F903-A5A0-70A8-8A2456BDA8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DA41B9-9AF9-2318-D5F3-84EEF230827A}"/>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840278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4A984-AD38-B4DF-4BDF-A6209ABF65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EAC194-661E-40FC-BF3C-E09A68F368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CEABE9-5125-F6A0-0646-326EFFB97A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90CEB2-664C-3C56-13BB-FC0DC8EE0E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F1CF48-801D-07F8-C9C8-A5603931EE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C662CB-3244-A21E-71E3-CFA2AB51FA1A}"/>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8" name="Footer Placeholder 7">
            <a:extLst>
              <a:ext uri="{FF2B5EF4-FFF2-40B4-BE49-F238E27FC236}">
                <a16:creationId xmlns:a16="http://schemas.microsoft.com/office/drawing/2014/main" id="{9EA826D5-FB4E-1E06-B5FA-3E0604FF042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4705990-131C-6050-E94D-C5CFA8E80A4A}"/>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1586327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033AF-F6CE-F735-D8D1-D44F063694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EEF3A45-8E5D-0E8C-B3BD-98B3BCF68E6B}"/>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4" name="Footer Placeholder 3">
            <a:extLst>
              <a:ext uri="{FF2B5EF4-FFF2-40B4-BE49-F238E27FC236}">
                <a16:creationId xmlns:a16="http://schemas.microsoft.com/office/drawing/2014/main" id="{35BFA25B-C8F2-1849-9B7C-A1A23A111F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35CB4A-816F-8F23-DD05-CF2DC135B874}"/>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779219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B5AB0D-1CFB-8C9A-FE30-5E726F707FCD}"/>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3" name="Footer Placeholder 2">
            <a:extLst>
              <a:ext uri="{FF2B5EF4-FFF2-40B4-BE49-F238E27FC236}">
                <a16:creationId xmlns:a16="http://schemas.microsoft.com/office/drawing/2014/main" id="{E2A68F66-C3E1-776D-247A-854D53A0E3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8D0F1B-CC8E-B92E-AB5B-F65B35267C50}"/>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2830678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50CBD-A9A4-AEF6-659F-02E2C24DAF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72EDAA-D2FC-8FA3-E40A-789030010B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9133D4-EA6B-1478-1DD5-C4A003A85D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896C1-32E9-EDF0-5317-19BC0F7F9CE3}"/>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6" name="Footer Placeholder 5">
            <a:extLst>
              <a:ext uri="{FF2B5EF4-FFF2-40B4-BE49-F238E27FC236}">
                <a16:creationId xmlns:a16="http://schemas.microsoft.com/office/drawing/2014/main" id="{0F9F0C0B-0ABE-1DE0-D2C4-C4C3F76C3C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3D0DE1-6A6F-C305-9961-2FAB5E7EB3EE}"/>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2125162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9F5F0-4996-400D-8288-B88C756203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B4C35E-D036-2CF4-3F2D-DC27058D13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E6B3E86-4D48-4030-1090-A1D012528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CFE2FC-C6A0-813C-614D-8E11200C03A1}"/>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6" name="Footer Placeholder 5">
            <a:extLst>
              <a:ext uri="{FF2B5EF4-FFF2-40B4-BE49-F238E27FC236}">
                <a16:creationId xmlns:a16="http://schemas.microsoft.com/office/drawing/2014/main" id="{FDADF7F5-4D01-4945-A165-E15A45A3A8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099F96-3168-E872-C154-2DB11554A064}"/>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3301893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24095-A7F3-CE89-2E1B-3736C5F70E1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D76806-9185-098D-5327-6191075B9D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42264D-B77E-5619-E96B-13C06E12202C}"/>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5" name="Footer Placeholder 4">
            <a:extLst>
              <a:ext uri="{FF2B5EF4-FFF2-40B4-BE49-F238E27FC236}">
                <a16:creationId xmlns:a16="http://schemas.microsoft.com/office/drawing/2014/main" id="{F68344C2-F463-4214-A754-344A183B6A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4A5A3D-1BB9-87D5-C7D8-15C0AAB77C21}"/>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3539166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77ED18-FED9-9A87-9393-9D3F8F9D9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CA0E1A-1762-57B4-2143-A97578B5B4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1FA728-8CE0-6170-A60C-4982AF8A87BB}"/>
              </a:ext>
            </a:extLst>
          </p:cNvPr>
          <p:cNvSpPr>
            <a:spLocks noGrp="1"/>
          </p:cNvSpPr>
          <p:nvPr>
            <p:ph type="dt" sz="half" idx="10"/>
          </p:nvPr>
        </p:nvSpPr>
        <p:spPr/>
        <p:txBody>
          <a:bodyPr/>
          <a:lstStyle/>
          <a:p>
            <a:fld id="{06E160E5-77A3-4FF0-AF42-15D95B80870C}" type="datetimeFigureOut">
              <a:rPr lang="en-IN" smtClean="0"/>
              <a:t>05-12-2025</a:t>
            </a:fld>
            <a:endParaRPr lang="en-IN"/>
          </a:p>
        </p:txBody>
      </p:sp>
      <p:sp>
        <p:nvSpPr>
          <p:cNvPr id="5" name="Footer Placeholder 4">
            <a:extLst>
              <a:ext uri="{FF2B5EF4-FFF2-40B4-BE49-F238E27FC236}">
                <a16:creationId xmlns:a16="http://schemas.microsoft.com/office/drawing/2014/main" id="{8948911E-EDBC-67B2-6ADC-122651AD8F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00DF40-198D-3BC3-0601-2F54283E931D}"/>
              </a:ext>
            </a:extLst>
          </p:cNvPr>
          <p:cNvSpPr>
            <a:spLocks noGrp="1"/>
          </p:cNvSpPr>
          <p:nvPr>
            <p:ph type="sldNum" sz="quarter" idx="12"/>
          </p:nvPr>
        </p:nvSpPr>
        <p:spPr/>
        <p:txBody>
          <a:bodyPr/>
          <a:lstStyle/>
          <a:p>
            <a:fld id="{2B2002D6-94CD-415D-AFF6-C2A0920DC033}" type="slidenum">
              <a:rPr lang="en-IN" smtClean="0"/>
              <a:t>‹#›</a:t>
            </a:fld>
            <a:endParaRPr lang="en-IN"/>
          </a:p>
        </p:txBody>
      </p:sp>
    </p:spTree>
    <p:extLst>
      <p:ext uri="{BB962C8B-B14F-4D97-AF65-F5344CB8AC3E}">
        <p14:creationId xmlns:p14="http://schemas.microsoft.com/office/powerpoint/2010/main" val="1208539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3B7832-937D-A4E2-37FB-48F91488F6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75FEFD-4CB2-4795-13B9-29750A3CF7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AC1C4D-3A75-24AC-73E4-92497F4B59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160E5-77A3-4FF0-AF42-15D95B80870C}" type="datetimeFigureOut">
              <a:rPr lang="en-IN" smtClean="0"/>
              <a:t>05-12-2025</a:t>
            </a:fld>
            <a:endParaRPr lang="en-IN"/>
          </a:p>
        </p:txBody>
      </p:sp>
      <p:sp>
        <p:nvSpPr>
          <p:cNvPr id="5" name="Footer Placeholder 4">
            <a:extLst>
              <a:ext uri="{FF2B5EF4-FFF2-40B4-BE49-F238E27FC236}">
                <a16:creationId xmlns:a16="http://schemas.microsoft.com/office/drawing/2014/main" id="{32759B37-1589-5271-B11E-31436DA78F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54F903-9920-3ACC-2906-EDD3982E57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2002D6-94CD-415D-AFF6-C2A0920DC033}" type="slidenum">
              <a:rPr lang="en-IN" smtClean="0"/>
              <a:t>‹#›</a:t>
            </a:fld>
            <a:endParaRPr lang="en-IN"/>
          </a:p>
        </p:txBody>
      </p:sp>
    </p:spTree>
    <p:extLst>
      <p:ext uri="{BB962C8B-B14F-4D97-AF65-F5344CB8AC3E}">
        <p14:creationId xmlns:p14="http://schemas.microsoft.com/office/powerpoint/2010/main" val="4044097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007/s11548-025-03366-5" TargetMode="External"/><Relationship Id="rId2" Type="http://schemas.openxmlformats.org/officeDocument/2006/relationships/hyperlink" Target="https://doi.org/10.1007/s00464-025-11903-1" TargetMode="External"/><Relationship Id="rId1" Type="http://schemas.openxmlformats.org/officeDocument/2006/relationships/slideLayout" Target="../slideLayouts/slideLayout2.xml"/><Relationship Id="rId4" Type="http://schemas.openxmlformats.org/officeDocument/2006/relationships/hyperlink" Target="https://doi.org/10.1038/s41598-024-77176-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1,400+ Dark Surgery Room Stock Photos, Pictures &amp; Royalty-Free Images -  iStock | Surgery lights">
            <a:extLst>
              <a:ext uri="{FF2B5EF4-FFF2-40B4-BE49-F238E27FC236}">
                <a16:creationId xmlns:a16="http://schemas.microsoft.com/office/drawing/2014/main" id="{8390ED9D-FA77-B42B-882D-AE91158215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39"/>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55C98B9-031D-11EA-0F37-2FAA66738E1C}"/>
              </a:ext>
            </a:extLst>
          </p:cNvPr>
          <p:cNvSpPr>
            <a:spLocks noGrp="1"/>
          </p:cNvSpPr>
          <p:nvPr>
            <p:ph type="ctrTitle"/>
          </p:nvPr>
        </p:nvSpPr>
        <p:spPr>
          <a:xfrm>
            <a:off x="-186812" y="813619"/>
            <a:ext cx="10491018" cy="1425677"/>
          </a:xfrm>
        </p:spPr>
        <p:txBody>
          <a:bodyPr>
            <a:normAutofit/>
          </a:bodyPr>
          <a:lstStyle/>
          <a:p>
            <a:r>
              <a:rPr lang="en-US" sz="4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Surgical Skill Assessment using Graph-Based Modeling</a:t>
            </a:r>
            <a:endParaRPr lang="en-IN" sz="4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5E5FEA9-5C05-9502-684D-3321C74F5FC5}"/>
              </a:ext>
            </a:extLst>
          </p:cNvPr>
          <p:cNvSpPr>
            <a:spLocks noGrp="1"/>
          </p:cNvSpPr>
          <p:nvPr>
            <p:ph type="subTitle" idx="1"/>
          </p:nvPr>
        </p:nvSpPr>
        <p:spPr>
          <a:xfrm>
            <a:off x="514182" y="2784404"/>
            <a:ext cx="8927689" cy="516194"/>
          </a:xfrm>
        </p:spPr>
        <p:txBody>
          <a:bodyPr>
            <a:normAutofit lnSpcReduction="10000"/>
          </a:bodyPr>
          <a:lstStyle/>
          <a:p>
            <a:r>
              <a:rPr lang="en-US" sz="3200" b="1" i="1" dirty="0">
                <a:solidFill>
                  <a:schemeClr val="bg1"/>
                </a:solidFill>
                <a:latin typeface="Times New Roman" panose="02020603050405020304" pitchFamily="18" charset="0"/>
                <a:cs typeface="Times New Roman" panose="02020603050405020304" pitchFamily="18" charset="0"/>
              </a:rPr>
              <a:t>-Using the JIGSAWS Dataset for Skill Evaluation </a:t>
            </a:r>
          </a:p>
        </p:txBody>
      </p:sp>
      <p:graphicFrame>
        <p:nvGraphicFramePr>
          <p:cNvPr id="6" name="Table 5">
            <a:extLst>
              <a:ext uri="{FF2B5EF4-FFF2-40B4-BE49-F238E27FC236}">
                <a16:creationId xmlns:a16="http://schemas.microsoft.com/office/drawing/2014/main" id="{837D5902-E5A6-5344-DE8E-F3CB12E99C82}"/>
              </a:ext>
            </a:extLst>
          </p:cNvPr>
          <p:cNvGraphicFramePr>
            <a:graphicFrameLocks noGrp="1"/>
          </p:cNvGraphicFramePr>
          <p:nvPr>
            <p:extLst>
              <p:ext uri="{D42A27DB-BD31-4B8C-83A1-F6EECF244321}">
                <p14:modId xmlns:p14="http://schemas.microsoft.com/office/powerpoint/2010/main" val="597099747"/>
              </p:ext>
            </p:extLst>
          </p:nvPr>
        </p:nvGraphicFramePr>
        <p:xfrm>
          <a:off x="617681" y="4361900"/>
          <a:ext cx="6963974" cy="1188720"/>
        </p:xfrm>
        <a:graphic>
          <a:graphicData uri="http://schemas.openxmlformats.org/drawingml/2006/table">
            <a:tbl>
              <a:tblPr firstRow="1" bandRow="1">
                <a:tableStyleId>{2D5ABB26-0587-4C30-8999-92F81FD0307C}</a:tableStyleId>
              </a:tblPr>
              <a:tblGrid>
                <a:gridCol w="1865746">
                  <a:extLst>
                    <a:ext uri="{9D8B030D-6E8A-4147-A177-3AD203B41FA5}">
                      <a16:colId xmlns:a16="http://schemas.microsoft.com/office/drawing/2014/main" val="614846508"/>
                    </a:ext>
                  </a:extLst>
                </a:gridCol>
                <a:gridCol w="2389910">
                  <a:extLst>
                    <a:ext uri="{9D8B030D-6E8A-4147-A177-3AD203B41FA5}">
                      <a16:colId xmlns:a16="http://schemas.microsoft.com/office/drawing/2014/main" val="980437902"/>
                    </a:ext>
                  </a:extLst>
                </a:gridCol>
                <a:gridCol w="2708318">
                  <a:extLst>
                    <a:ext uri="{9D8B030D-6E8A-4147-A177-3AD203B41FA5}">
                      <a16:colId xmlns:a16="http://schemas.microsoft.com/office/drawing/2014/main" val="2033205368"/>
                    </a:ext>
                  </a:extLst>
                </a:gridCol>
              </a:tblGrid>
              <a:tr h="370840">
                <a:tc>
                  <a:txBody>
                    <a:bodyPr/>
                    <a:lstStyle/>
                    <a:p>
                      <a:r>
                        <a:rPr lang="en-US" b="1" dirty="0" err="1">
                          <a:solidFill>
                            <a:schemeClr val="bg1"/>
                          </a:solidFill>
                          <a:latin typeface="Times New Roman" panose="02020603050405020304" pitchFamily="18" charset="0"/>
                          <a:cs typeface="Times New Roman" panose="02020603050405020304" pitchFamily="18" charset="0"/>
                        </a:rPr>
                        <a:t>Gouni</a:t>
                      </a:r>
                      <a:r>
                        <a:rPr lang="en-US" b="1" dirty="0">
                          <a:solidFill>
                            <a:schemeClr val="bg1"/>
                          </a:solidFill>
                          <a:latin typeface="Times New Roman" panose="02020603050405020304" pitchFamily="18" charset="0"/>
                          <a:cs typeface="Times New Roman" panose="02020603050405020304" pitchFamily="18" charset="0"/>
                        </a:rPr>
                        <a:t> Sahithi   -</a:t>
                      </a:r>
                      <a:endParaRPr lang="en-IN" b="1"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Times New Roman" panose="02020603050405020304" pitchFamily="18" charset="0"/>
                          <a:cs typeface="Times New Roman" panose="02020603050405020304" pitchFamily="18" charset="0"/>
                        </a:rPr>
                        <a:t>Methodist College of      Engineering and Technology.</a:t>
                      </a:r>
                      <a:endParaRPr lang="en-IN" b="1" dirty="0">
                        <a:solidFill>
                          <a:schemeClr val="bg1"/>
                        </a:solidFill>
                        <a:latin typeface="Times New Roman" panose="02020603050405020304" pitchFamily="18" charset="0"/>
                        <a:cs typeface="Times New Roman" panose="02020603050405020304" pitchFamily="18" charset="0"/>
                      </a:endParaRPr>
                    </a:p>
                    <a:p>
                      <a:endParaRPr lang="en-IN" b="1"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Times New Roman" panose="02020603050405020304" pitchFamily="18" charset="0"/>
                          <a:cs typeface="Times New Roman" panose="02020603050405020304" pitchFamily="18" charset="0"/>
                        </a:rPr>
                        <a:t>Computer Science and Engineering.</a:t>
                      </a:r>
                      <a:endParaRPr lang="en-IN" b="1" dirty="0">
                        <a:solidFill>
                          <a:schemeClr val="bg1"/>
                        </a:solidFill>
                        <a:latin typeface="Times New Roman" panose="02020603050405020304" pitchFamily="18" charset="0"/>
                        <a:cs typeface="Times New Roman" panose="02020603050405020304" pitchFamily="18" charset="0"/>
                      </a:endParaRPr>
                    </a:p>
                    <a:p>
                      <a:endParaRPr lang="en-IN" b="1"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968934"/>
                  </a:ext>
                </a:extLst>
              </a:tr>
            </a:tbl>
          </a:graphicData>
        </a:graphic>
      </p:graphicFrame>
      <p:sp>
        <p:nvSpPr>
          <p:cNvPr id="7" name="TextBox 6">
            <a:extLst>
              <a:ext uri="{FF2B5EF4-FFF2-40B4-BE49-F238E27FC236}">
                <a16:creationId xmlns:a16="http://schemas.microsoft.com/office/drawing/2014/main" id="{0DCDEFE6-0EA2-9A19-8D9B-85010107F2D1}"/>
              </a:ext>
            </a:extLst>
          </p:cNvPr>
          <p:cNvSpPr txBox="1"/>
          <p:nvPr/>
        </p:nvSpPr>
        <p:spPr>
          <a:xfrm>
            <a:off x="617681" y="3846870"/>
            <a:ext cx="331019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Presented by:</a:t>
            </a:r>
          </a:p>
        </p:txBody>
      </p:sp>
      <p:sp>
        <p:nvSpPr>
          <p:cNvPr id="4" name="TextBox 3">
            <a:extLst>
              <a:ext uri="{FF2B5EF4-FFF2-40B4-BE49-F238E27FC236}">
                <a16:creationId xmlns:a16="http://schemas.microsoft.com/office/drawing/2014/main" id="{AF2F9124-F5CA-7628-6B7F-DA12DB52ED88}"/>
              </a:ext>
            </a:extLst>
          </p:cNvPr>
          <p:cNvSpPr txBox="1"/>
          <p:nvPr/>
        </p:nvSpPr>
        <p:spPr>
          <a:xfrm>
            <a:off x="8572500" y="4010891"/>
            <a:ext cx="3491345" cy="1883657"/>
          </a:xfrm>
          <a:prstGeom prst="rect">
            <a:avLst/>
          </a:prstGeom>
          <a:noFill/>
        </p:spPr>
        <p:txBody>
          <a:bodyPr wrap="square" rtlCol="0">
            <a:spAutoFit/>
          </a:bodyPr>
          <a:lstStyle/>
          <a:p>
            <a:pPr>
              <a:lnSpc>
                <a:spcPct val="150000"/>
              </a:lnSpc>
            </a:pPr>
            <a:r>
              <a:rPr lang="en-US" sz="2000" b="1" dirty="0">
                <a:solidFill>
                  <a:schemeClr val="bg1"/>
                </a:solidFill>
                <a:latin typeface="Times New Roman" panose="02020603050405020304" pitchFamily="18" charset="0"/>
                <a:cs typeface="Times New Roman" panose="02020603050405020304" pitchFamily="18" charset="0"/>
              </a:rPr>
              <a:t>Under the Guidance of:</a:t>
            </a:r>
          </a:p>
          <a:p>
            <a:pPr>
              <a:lnSpc>
                <a:spcPct val="150000"/>
              </a:lnSpc>
            </a:pPr>
            <a:r>
              <a:rPr lang="en-IN" sz="2000" b="1" dirty="0" err="1">
                <a:solidFill>
                  <a:schemeClr val="bg1"/>
                </a:solidFill>
                <a:latin typeface="Times New Roman" panose="02020603050405020304" pitchFamily="18" charset="0"/>
                <a:cs typeface="Times New Roman" panose="02020603050405020304" pitchFamily="18" charset="0"/>
              </a:rPr>
              <a:t>Dr.P</a:t>
            </a:r>
            <a:r>
              <a:rPr lang="en-IN" sz="2000" b="1" dirty="0">
                <a:solidFill>
                  <a:schemeClr val="bg1"/>
                </a:solidFill>
                <a:latin typeface="Times New Roman" panose="02020603050405020304" pitchFamily="18" charset="0"/>
                <a:cs typeface="Times New Roman" panose="02020603050405020304" pitchFamily="18" charset="0"/>
              </a:rPr>
              <a:t> Lavanya </a:t>
            </a:r>
          </a:p>
          <a:p>
            <a:pPr>
              <a:lnSpc>
                <a:spcPct val="150000"/>
              </a:lnSpc>
            </a:pPr>
            <a:r>
              <a:rPr lang="en-IN" sz="2000" b="1" dirty="0" err="1">
                <a:solidFill>
                  <a:schemeClr val="bg1"/>
                </a:solidFill>
                <a:latin typeface="Times New Roman" panose="02020603050405020304" pitchFamily="18" charset="0"/>
                <a:cs typeface="Times New Roman" panose="02020603050405020304" pitchFamily="18" charset="0"/>
              </a:rPr>
              <a:t>Head&amp;Professor</a:t>
            </a:r>
            <a:r>
              <a:rPr lang="en-IN" sz="2000" b="1" dirty="0">
                <a:solidFill>
                  <a:schemeClr val="bg1"/>
                </a:solidFill>
                <a:latin typeface="Times New Roman" panose="02020603050405020304" pitchFamily="18" charset="0"/>
                <a:cs typeface="Times New Roman" panose="02020603050405020304" pitchFamily="18" charset="0"/>
              </a:rPr>
              <a:t> of CSE Department</a:t>
            </a:r>
          </a:p>
        </p:txBody>
      </p:sp>
    </p:spTree>
    <p:extLst>
      <p:ext uri="{BB962C8B-B14F-4D97-AF65-F5344CB8AC3E}">
        <p14:creationId xmlns:p14="http://schemas.microsoft.com/office/powerpoint/2010/main" val="2151801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79E97-1226-AAA3-3257-1A89F352BEC3}"/>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B6EC7A1-CFB2-8117-9ADC-8F1B240238F1}"/>
              </a:ext>
            </a:extLst>
          </p:cNvPr>
          <p:cNvSpPr>
            <a:spLocks noGrp="1"/>
          </p:cNvSpPr>
          <p:nvPr>
            <p:ph idx="1"/>
          </p:nvPr>
        </p:nvSpPr>
        <p:spPr>
          <a:xfrm>
            <a:off x="838200" y="1504335"/>
            <a:ext cx="10515600" cy="4988540"/>
          </a:xfrm>
        </p:spPr>
        <p:txBody>
          <a:bodyPr>
            <a:normAutofit/>
          </a:bodyPr>
          <a:lstStyle/>
          <a:p>
            <a:pPr>
              <a:lnSpc>
                <a:spcPct val="100000"/>
              </a:lnSpc>
            </a:pPr>
            <a:r>
              <a:rPr lang="en-US" sz="2000" dirty="0">
                <a:latin typeface="Times New Roman" panose="02020603050405020304" pitchFamily="18" charset="0"/>
                <a:cs typeface="Times New Roman" panose="02020603050405020304" pitchFamily="18" charset="0"/>
              </a:rPr>
              <a:t>This project presents an automatic way to judge a surgeon's skill by looking at their surgery videos.</a:t>
            </a:r>
          </a:p>
          <a:p>
            <a:pPr>
              <a:lnSpc>
                <a:spcPct val="100000"/>
              </a:lnSpc>
            </a:pPr>
            <a:r>
              <a:rPr lang="en-US" sz="2000" dirty="0">
                <a:latin typeface="Times New Roman" panose="02020603050405020304" pitchFamily="18" charset="0"/>
                <a:cs typeface="Times New Roman" panose="02020603050405020304" pitchFamily="18" charset="0"/>
              </a:rPr>
              <a:t>Instead of relying on human opinion, we use a smart computer model called a 'graph.' This model treats everything in the video—the surgical tools, the parts, and all the actions—as connected pieces of information. By mapping out these relationships and how they change moment-to-moment, the model can understand the full context of the operation.</a:t>
            </a:r>
          </a:p>
          <a:p>
            <a:pPr>
              <a:lnSpc>
                <a:spcPct val="100000"/>
              </a:lnSpc>
            </a:pPr>
            <a:r>
              <a:rPr lang="en-US" sz="2000" dirty="0">
                <a:latin typeface="Times New Roman" panose="02020603050405020304" pitchFamily="18" charset="0"/>
                <a:cs typeface="Times New Roman" panose="02020603050405020304" pitchFamily="18" charset="0"/>
              </a:rPr>
              <a:t>In this project, we use deep learning to automatically recognize different surgical gestures and assess skill levels from motion (kinematic) data. The data comes from the JIGSAWS dataset, which records the movements of surgical tools during robotic surgery tasks.</a:t>
            </a:r>
          </a:p>
          <a:p>
            <a:pPr>
              <a:lnSpc>
                <a:spcPct val="100000"/>
              </a:lnSpc>
            </a:pPr>
            <a:r>
              <a:rPr lang="en-US" sz="2000" dirty="0">
                <a:latin typeface="Times New Roman" panose="02020603050405020304" pitchFamily="18" charset="0"/>
                <a:cs typeface="Times New Roman" panose="02020603050405020304" pitchFamily="18" charset="0"/>
              </a:rPr>
              <a:t>I designed a model using </a:t>
            </a:r>
            <a:r>
              <a:rPr lang="en-US" sz="2000" b="1" dirty="0">
                <a:latin typeface="Times New Roman" panose="02020603050405020304" pitchFamily="18" charset="0"/>
                <a:cs typeface="Times New Roman" panose="02020603050405020304" pitchFamily="18" charset="0"/>
              </a:rPr>
              <a:t>Graph Convolutional Networks (GCN)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LSTM (Long Short-Term Memory)</a:t>
            </a:r>
            <a:r>
              <a:rPr lang="en-US" sz="2000" dirty="0">
                <a:latin typeface="Times New Roman" panose="02020603050405020304" pitchFamily="18" charset="0"/>
                <a:cs typeface="Times New Roman" panose="02020603050405020304" pitchFamily="18" charset="0"/>
              </a:rPr>
              <a:t> networks to capture both the relationships between robot joints and how movements change over time. This system can help in creating an </a:t>
            </a:r>
            <a:r>
              <a:rPr lang="en-US" sz="2000" b="1" dirty="0">
                <a:latin typeface="Times New Roman" panose="02020603050405020304" pitchFamily="18" charset="0"/>
                <a:cs typeface="Times New Roman" panose="02020603050405020304" pitchFamily="18" charset="0"/>
              </a:rPr>
              <a:t>automated, objective, and faster</a:t>
            </a:r>
            <a:r>
              <a:rPr lang="en-US" sz="2000" dirty="0">
                <a:latin typeface="Times New Roman" panose="02020603050405020304" pitchFamily="18" charset="0"/>
                <a:cs typeface="Times New Roman" panose="02020603050405020304" pitchFamily="18" charset="0"/>
              </a:rPr>
              <a:t> way to evaluate surgical training.</a:t>
            </a:r>
          </a:p>
          <a:p>
            <a:pPr>
              <a:lnSpc>
                <a:spcPct val="10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835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D0BA6-C295-66DC-2816-3DF17581E4C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421721-E9CE-0137-2563-1CFC832FDA28}"/>
              </a:ext>
            </a:extLst>
          </p:cNvPr>
          <p:cNvSpPr>
            <a:spLocks noGrp="1"/>
          </p:cNvSpPr>
          <p:nvPr>
            <p:ph idx="1"/>
          </p:nvPr>
        </p:nvSpPr>
        <p:spPr>
          <a:xfrm>
            <a:off x="838200" y="1478383"/>
            <a:ext cx="10515600" cy="5014491"/>
          </a:xfrm>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Surgical-skill-assessment</a:t>
            </a:r>
            <a:r>
              <a:rPr lang="en-US" sz="2000" dirty="0">
                <a:latin typeface="Times New Roman" panose="02020603050405020304" pitchFamily="18" charset="0"/>
                <a:cs typeface="Times New Roman" panose="02020603050405020304" pitchFamily="18" charset="0"/>
              </a:rPr>
              <a:t>: Evaluation of a surgeon’s performance.</a:t>
            </a:r>
          </a:p>
          <a:p>
            <a:pPr>
              <a:lnSpc>
                <a:spcPct val="150000"/>
              </a:lnSpc>
            </a:pPr>
            <a:r>
              <a:rPr lang="en-US" sz="2000" b="1" dirty="0">
                <a:latin typeface="Times New Roman" panose="02020603050405020304" pitchFamily="18" charset="0"/>
                <a:cs typeface="Times New Roman" panose="02020603050405020304" pitchFamily="18" charset="0"/>
              </a:rPr>
              <a:t>A Surgery video </a:t>
            </a:r>
            <a:r>
              <a:rPr lang="en-US" sz="2000" dirty="0">
                <a:latin typeface="Times New Roman" panose="02020603050405020304" pitchFamily="18" charset="0"/>
                <a:cs typeface="Times New Roman" panose="02020603050405020304" pitchFamily="18" charset="0"/>
              </a:rPr>
              <a:t>:is a real-time video feed from the body, displayed on a monitor during surgery.</a:t>
            </a:r>
          </a:p>
          <a:p>
            <a:pPr>
              <a:lnSpc>
                <a:spcPct val="150000"/>
              </a:lnSpc>
            </a:pPr>
            <a:r>
              <a:rPr lang="en-US" sz="2000" b="1" dirty="0">
                <a:latin typeface="Times New Roman" panose="02020603050405020304" pitchFamily="18" charset="0"/>
                <a:cs typeface="Times New Roman" panose="02020603050405020304" pitchFamily="18" charset="0"/>
              </a:rPr>
              <a:t>Graph-based modeling </a:t>
            </a:r>
            <a:r>
              <a:rPr lang="en-US" sz="2000" dirty="0">
                <a:latin typeface="Times New Roman" panose="02020603050405020304" pitchFamily="18" charset="0"/>
                <a:cs typeface="Times New Roman" panose="02020603050405020304" pitchFamily="18" charset="0"/>
              </a:rPr>
              <a:t>is a method of structuring data to represent relationships between entities using a network of nodes (entities) and edges (relationships)</a:t>
            </a:r>
          </a:p>
          <a:p>
            <a:pPr>
              <a:lnSpc>
                <a:spcPct val="150000"/>
              </a:lnSpc>
            </a:pPr>
            <a:r>
              <a:rPr lang="en-US" sz="2000" b="1" dirty="0">
                <a:latin typeface="Times New Roman" panose="02020603050405020304" pitchFamily="18" charset="0"/>
                <a:cs typeface="Times New Roman" panose="02020603050405020304" pitchFamily="18" charset="0"/>
              </a:rPr>
              <a:t>Graph Convolutional Network</a:t>
            </a:r>
            <a:r>
              <a:rPr lang="en-US" sz="2000" dirty="0">
                <a:latin typeface="Times New Roman" panose="02020603050405020304" pitchFamily="18" charset="0"/>
                <a:cs typeface="Times New Roman" panose="02020603050405020304" pitchFamily="18" charset="0"/>
              </a:rPr>
              <a:t>, a type of neural network used for graph-structured data.</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Long Short-Term Memory (LSTM):</a:t>
            </a:r>
            <a:r>
              <a:rPr lang="en-IN" sz="2000" dirty="0">
                <a:latin typeface="Times New Roman" panose="02020603050405020304" pitchFamily="18" charset="0"/>
                <a:cs typeface="Times New Roman" panose="02020603050405020304" pitchFamily="18" charset="0"/>
              </a:rPr>
              <a:t>used for storing data in memory.</a:t>
            </a:r>
            <a:endParaRPr lang="en-US" sz="2000" dirty="0">
              <a:latin typeface="Times New Roman" panose="02020603050405020304" pitchFamily="18" charset="0"/>
              <a:cs typeface="Times New Roman" panose="02020603050405020304" pitchFamily="18" charset="0"/>
            </a:endParaRP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7563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C6884-BC19-CF88-C121-8876141BCA38}"/>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Problem Statement:</a:t>
            </a:r>
            <a:r>
              <a:rPr lang="en-IN" sz="36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AE46B598-F1E0-AC61-5619-B384EF02CBB0}"/>
              </a:ext>
            </a:extLst>
          </p:cNvPr>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Evaluating surgical skill is a crucial part of training new surgeons. However, current assessment methods are:</a:t>
            </a:r>
          </a:p>
          <a:p>
            <a:pPr marL="457200" lvl="1" indent="0">
              <a:lnSpc>
                <a:spcPct val="150000"/>
              </a:lnSpc>
              <a:buNone/>
            </a:pPr>
            <a:r>
              <a:rPr lang="en-US" sz="2000" dirty="0">
                <a:latin typeface="Times New Roman" panose="02020603050405020304" pitchFamily="18" charset="0"/>
                <a:cs typeface="Times New Roman" panose="02020603050405020304" pitchFamily="18" charset="0"/>
              </a:rPr>
              <a:t>1.Time-consuming, since experts must watch and score each video manually.</a:t>
            </a:r>
          </a:p>
          <a:p>
            <a:pPr marL="457200" lvl="1" indent="0">
              <a:lnSpc>
                <a:spcPct val="150000"/>
              </a:lnSpc>
              <a:buNone/>
            </a:pPr>
            <a:r>
              <a:rPr lang="en-US" sz="2000" dirty="0">
                <a:latin typeface="Times New Roman" panose="02020603050405020304" pitchFamily="18" charset="0"/>
                <a:cs typeface="Times New Roman" panose="02020603050405020304" pitchFamily="18" charset="0"/>
              </a:rPr>
              <a:t>2.Subjective, because different evaluators may score differently.</a:t>
            </a:r>
          </a:p>
          <a:p>
            <a:pPr>
              <a:lnSpc>
                <a:spcPct val="150000"/>
              </a:lnSpc>
            </a:pPr>
            <a:r>
              <a:rPr lang="en-US" sz="2000" dirty="0">
                <a:latin typeface="Times New Roman" panose="02020603050405020304" pitchFamily="18" charset="0"/>
                <a:cs typeface="Times New Roman" panose="02020603050405020304" pitchFamily="18" charset="0"/>
              </a:rPr>
              <a:t>This project aims to develop an AI-based system that can learn from videos and predict the surgeons level.</a:t>
            </a:r>
            <a:endParaRPr lang="en-US" sz="2400" dirty="0">
              <a:latin typeface="Times New Roman" panose="02020603050405020304" pitchFamily="18" charset="0"/>
              <a:cs typeface="Times New Roman" panose="02020603050405020304" pitchFamily="18" charset="0"/>
            </a:endParaRP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757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61DCF-FE8D-9771-0BA5-0100DEBCB2D7}"/>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Objectives:									</a:t>
            </a:r>
          </a:p>
        </p:txBody>
      </p:sp>
      <p:sp>
        <p:nvSpPr>
          <p:cNvPr id="5" name="Rectangle 2">
            <a:extLst>
              <a:ext uri="{FF2B5EF4-FFF2-40B4-BE49-F238E27FC236}">
                <a16:creationId xmlns:a16="http://schemas.microsoft.com/office/drawing/2014/main" id="{8948534E-EECF-69F5-9117-FB44F4B93093}"/>
              </a:ext>
            </a:extLst>
          </p:cNvPr>
          <p:cNvSpPr>
            <a:spLocks noGrp="1" noChangeArrowheads="1"/>
          </p:cNvSpPr>
          <p:nvPr>
            <p:ph idx="1"/>
          </p:nvPr>
        </p:nvSpPr>
        <p:spPr bwMode="auto">
          <a:xfrm>
            <a:off x="583442" y="1794674"/>
            <a:ext cx="9544665"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deep learning model that combines GCN and LSTM</a:t>
            </a:r>
            <a:r>
              <a:rPr lang="en-US" altLang="en-US" sz="2000" dirty="0">
                <a:latin typeface="Times New Roman" panose="02020603050405020304" pitchFamily="18" charset="0"/>
                <a:cs typeface="Times New Roman" panose="02020603050405020304" pitchFamily="18" charset="0"/>
              </a:rPr>
              <a:t>:</a:t>
            </a:r>
          </a:p>
          <a:p>
            <a:pPr marL="0" lvl="0" indent="0" eaLnBrk="0" fontAlgn="base" hangingPunct="0">
              <a:lnSpc>
                <a:spcPct val="15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  GCN (Graph Convolutional Network)</a:t>
            </a:r>
            <a:r>
              <a:rPr lang="en-US" altLang="en-US" sz="2000" dirty="0">
                <a:latin typeface="Times New Roman" panose="02020603050405020304" pitchFamily="18" charset="0"/>
                <a:cs typeface="Times New Roman" panose="02020603050405020304" pitchFamily="18" charset="0"/>
              </a:rPr>
              <a:t> helps learn relationships between the surgeon’s and instrument   joints.</a:t>
            </a:r>
          </a:p>
          <a:p>
            <a:pPr marL="0" lvl="0" indent="0" eaLnBrk="0" fontAlgn="base" hangingPunct="0">
              <a:lnSpc>
                <a:spcPct val="15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  LSTM (Long Short-Term Memory)</a:t>
            </a:r>
            <a:r>
              <a:rPr lang="en-US" altLang="en-US" sz="2000" dirty="0">
                <a:latin typeface="Times New Roman" panose="02020603050405020304" pitchFamily="18" charset="0"/>
                <a:cs typeface="Times New Roman" panose="02020603050405020304" pitchFamily="18" charset="0"/>
              </a:rPr>
              <a:t> helps understand how movements change over time.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Build a model that can recognize different surgical actions from videos.</a:t>
            </a:r>
          </a:p>
          <a:p>
            <a:pPr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To evaluate the surgeon’s skill level(e.g., beginner, intermediate, or expert).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916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448E6-6220-4A7A-1001-841D2BB79014}"/>
              </a:ext>
            </a:extLst>
          </p:cNvPr>
          <p:cNvSpPr>
            <a:spLocks noGrp="1"/>
          </p:cNvSpPr>
          <p:nvPr>
            <p:ph type="title"/>
          </p:nvPr>
        </p:nvSpPr>
        <p:spPr>
          <a:xfrm>
            <a:off x="838200" y="365126"/>
            <a:ext cx="10515600" cy="873740"/>
          </a:xfrm>
        </p:spPr>
        <p:txBody>
          <a:bodyPr>
            <a:normAutofit/>
          </a:bodyPr>
          <a:lstStyle/>
          <a:p>
            <a:r>
              <a:rPr lang="en-IN" sz="3600" b="1" dirty="0">
                <a:latin typeface="Times New Roman" panose="02020603050405020304" pitchFamily="18" charset="0"/>
                <a:cs typeface="Times New Roman" panose="02020603050405020304" pitchFamily="18" charset="0"/>
              </a:rPr>
              <a:t>The JIGSAWS Dataset:						</a:t>
            </a:r>
          </a:p>
        </p:txBody>
      </p:sp>
      <p:sp>
        <p:nvSpPr>
          <p:cNvPr id="4" name="Rectangle 1">
            <a:extLst>
              <a:ext uri="{FF2B5EF4-FFF2-40B4-BE49-F238E27FC236}">
                <a16:creationId xmlns:a16="http://schemas.microsoft.com/office/drawing/2014/main" id="{EC6C40FB-4ECE-B1C7-8572-D48F451F2A99}"/>
              </a:ext>
            </a:extLst>
          </p:cNvPr>
          <p:cNvSpPr>
            <a:spLocks noGrp="1" noChangeArrowheads="1"/>
          </p:cNvSpPr>
          <p:nvPr>
            <p:ph idx="1"/>
          </p:nvPr>
        </p:nvSpPr>
        <p:spPr bwMode="auto">
          <a:xfrm>
            <a:off x="763229" y="1238866"/>
            <a:ext cx="10665542"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JIGSAWS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 (JHU-ISI Gesture and Skill Assessment Working Set) is used for this project.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contains recordings of surgery tasks:</a:t>
            </a:r>
          </a:p>
          <a:p>
            <a:pPr marL="457200" lvl="1" indent="0" eaLnBrk="0" fontAlgn="base" hangingPunct="0">
              <a:lnSpc>
                <a:spcPct val="150000"/>
              </a:lnSpc>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Suturing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50000"/>
              </a:lnSpc>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Knot Tying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50000"/>
              </a:lnSpc>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Needle Passing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task includes:</a:t>
            </a:r>
          </a:p>
          <a:p>
            <a:pPr marL="457200" lvl="1" indent="0" eaLnBrk="0" fontAlgn="base" hangingPunct="0">
              <a:lnSpc>
                <a:spcPct val="150000"/>
              </a:lnSpc>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Kinematic data: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tool movements and positions over time.</a:t>
            </a:r>
          </a:p>
          <a:p>
            <a:pPr marL="457200" lvl="1" indent="0" eaLnBrk="0" fontAlgn="base" hangingPunct="0">
              <a:lnSpc>
                <a:spcPct val="150000"/>
              </a:lnSpc>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Transcriptions: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video frames</a:t>
            </a:r>
          </a:p>
          <a:p>
            <a:pPr marL="457200" lvl="1" indent="0" eaLnBrk="0" fontAlgn="base" hangingPunct="0">
              <a:lnSpc>
                <a:spcPct val="150000"/>
              </a:lnSpc>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Video recordings.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Surgeons are labeled A to I, each performing multiple trials (001–005).</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are 15 different gestures in total (G1–G15).</a:t>
            </a:r>
          </a:p>
        </p:txBody>
      </p:sp>
    </p:spTree>
    <p:extLst>
      <p:ext uri="{BB962C8B-B14F-4D97-AF65-F5344CB8AC3E}">
        <p14:creationId xmlns:p14="http://schemas.microsoft.com/office/powerpoint/2010/main" val="2318369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0FEF-DD5A-2EE3-F57E-0F9A88520110}"/>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Model Architecture:</a:t>
            </a:r>
          </a:p>
        </p:txBody>
      </p:sp>
      <p:pic>
        <p:nvPicPr>
          <p:cNvPr id="6" name="Content Placeholder 5">
            <a:extLst>
              <a:ext uri="{FF2B5EF4-FFF2-40B4-BE49-F238E27FC236}">
                <a16:creationId xmlns:a16="http://schemas.microsoft.com/office/drawing/2014/main" id="{88DDD945-F784-3CA4-50DF-EAF3631A11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81495"/>
            <a:ext cx="8767916" cy="4879975"/>
          </a:xfrm>
        </p:spPr>
      </p:pic>
    </p:spTree>
    <p:extLst>
      <p:ext uri="{BB962C8B-B14F-4D97-AF65-F5344CB8AC3E}">
        <p14:creationId xmlns:p14="http://schemas.microsoft.com/office/powerpoint/2010/main" val="1521096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814DD7-B91C-7CBD-8F92-A9DE68B44780}"/>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Training Process:</a:t>
            </a:r>
          </a:p>
        </p:txBody>
      </p:sp>
      <p:sp>
        <p:nvSpPr>
          <p:cNvPr id="12" name="Content Placeholder 11">
            <a:extLst>
              <a:ext uri="{FF2B5EF4-FFF2-40B4-BE49-F238E27FC236}">
                <a16:creationId xmlns:a16="http://schemas.microsoft.com/office/drawing/2014/main" id="{2DBA66B3-32BD-59DA-1CF1-DA9A60E04BB2}"/>
              </a:ext>
            </a:extLst>
          </p:cNvPr>
          <p:cNvSpPr>
            <a:spLocks noGrp="1"/>
          </p:cNvSpPr>
          <p:nvPr>
            <p:ph idx="1"/>
          </p:nvPr>
        </p:nvSpPr>
        <p:spPr>
          <a:xfrm>
            <a:off x="730045" y="1471663"/>
            <a:ext cx="10515600" cy="4351338"/>
          </a:xfrm>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The Hardware Bottleneck (CPU):</a:t>
            </a:r>
            <a:r>
              <a:rPr lang="en-US" sz="2000" dirty="0">
                <a:latin typeface="Times New Roman" panose="02020603050405020304" pitchFamily="18" charset="0"/>
                <a:cs typeface="Times New Roman" panose="02020603050405020304" pitchFamily="18" charset="0"/>
              </a:rPr>
              <a:t> Trained our model on a </a:t>
            </a:r>
            <a:r>
              <a:rPr lang="en-US" sz="2000" b="1" dirty="0">
                <a:latin typeface="Times New Roman" panose="02020603050405020304" pitchFamily="18" charset="0"/>
                <a:cs typeface="Times New Roman" panose="02020603050405020304" pitchFamily="18" charset="0"/>
              </a:rPr>
              <a:t>CPU</a:t>
            </a:r>
            <a:r>
              <a:rPr lang="en-US" sz="2000" dirty="0">
                <a:latin typeface="Times New Roman" panose="02020603050405020304" pitchFamily="18" charset="0"/>
                <a:cs typeface="Times New Roman" panose="02020603050405020304" pitchFamily="18" charset="0"/>
              </a:rPr>
              <a:t>. A CPU is a general-purpose processor, making it much slower for the kind of parallel math required for deep learning compared to a specialized GPU. This means each training epoch took a significantly longer time.</a:t>
            </a:r>
          </a:p>
          <a:p>
            <a:pPr>
              <a:lnSpc>
                <a:spcPct val="150000"/>
              </a:lnSpc>
            </a:pPr>
            <a:r>
              <a:rPr lang="en-US" sz="2000" b="1" dirty="0">
                <a:latin typeface="Times New Roman" panose="02020603050405020304" pitchFamily="18" charset="0"/>
                <a:cs typeface="Times New Roman" panose="02020603050405020304" pitchFamily="18" charset="0"/>
              </a:rPr>
              <a:t>The Consequence :</a:t>
            </a:r>
            <a:r>
              <a:rPr lang="en-US" sz="2000" dirty="0">
                <a:latin typeface="Times New Roman" panose="02020603050405020304" pitchFamily="18" charset="0"/>
                <a:cs typeface="Times New Roman" panose="02020603050405020304" pitchFamily="18" charset="0"/>
              </a:rPr>
              <a:t>Because training on a CPU is slow, running for </a:t>
            </a:r>
            <a:r>
              <a:rPr lang="en-US" sz="2000" b="1" dirty="0">
                <a:latin typeface="Times New Roman" panose="02020603050405020304" pitchFamily="18" charset="0"/>
                <a:cs typeface="Times New Roman" panose="02020603050405020304" pitchFamily="18" charset="0"/>
              </a:rPr>
              <a:t>20 epochs</a:t>
            </a:r>
            <a:r>
              <a:rPr lang="en-US" sz="2000" dirty="0">
                <a:latin typeface="Times New Roman" panose="02020603050405020304" pitchFamily="18" charset="0"/>
                <a:cs typeface="Times New Roman" panose="02020603050405020304" pitchFamily="18" charset="0"/>
              </a:rPr>
              <a:t> was a practical limit. While the model got to see the entire dataset 100 times, it was likely not enough "study time" to learn the very complex and subtle patterns in the surgical data.</a:t>
            </a:r>
          </a:p>
          <a:p>
            <a:pPr>
              <a:lnSpc>
                <a:spcPct val="150000"/>
              </a:lnSpc>
            </a:pPr>
            <a:r>
              <a:rPr lang="en-US" sz="2000" b="1" dirty="0">
                <a:latin typeface="Times New Roman" panose="02020603050405020304" pitchFamily="18" charset="0"/>
                <a:cs typeface="Times New Roman" panose="02020603050405020304" pitchFamily="18" charset="0"/>
              </a:rPr>
              <a:t>The Outcome (50% Accuracy):</a:t>
            </a:r>
            <a:r>
              <a:rPr lang="en-US" sz="2000" dirty="0">
                <a:latin typeface="Times New Roman" panose="02020603050405020304" pitchFamily="18" charset="0"/>
                <a:cs typeface="Times New Roman" panose="02020603050405020304" pitchFamily="18" charset="0"/>
              </a:rPr>
              <a:t>As we </a:t>
            </a:r>
            <a:r>
              <a:rPr lang="en-US" sz="2000" dirty="0" err="1">
                <a:latin typeface="Times New Roman" panose="02020603050405020304" pitchFamily="18" charset="0"/>
                <a:cs typeface="Times New Roman" panose="02020603050405020304" pitchFamily="18" charset="0"/>
              </a:rPr>
              <a:t>haved</a:t>
            </a:r>
            <a:r>
              <a:rPr lang="en-US" sz="2000" dirty="0">
                <a:latin typeface="Times New Roman" panose="02020603050405020304" pitchFamily="18" charset="0"/>
                <a:cs typeface="Times New Roman" panose="02020603050405020304" pitchFamily="18" charset="0"/>
              </a:rPr>
              <a:t> trained on CPU we trained only 20 epochs. So due to this we got accuracy of 50%.So,further we train on GPU and try to get accuracy of 80+.</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825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C0C-A8B8-4216-0725-80B23EA07B91}"/>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Results and Observations: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3367A8-7A0C-8446-4BBB-CD75A3D1365E}"/>
              </a:ext>
            </a:extLst>
          </p:cNvPr>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After training the model:</a:t>
            </a:r>
          </a:p>
          <a:p>
            <a:pPr lvl="1">
              <a:lnSpc>
                <a:spcPct val="150000"/>
              </a:lnSpc>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loss</a:t>
            </a:r>
            <a:r>
              <a:rPr lang="en-US" sz="2000" dirty="0">
                <a:latin typeface="Times New Roman" panose="02020603050405020304" pitchFamily="18" charset="0"/>
                <a:cs typeface="Times New Roman" panose="02020603050405020304" pitchFamily="18" charset="0"/>
              </a:rPr>
              <a:t> value decreased steadily, showing learning progress.</a:t>
            </a:r>
          </a:p>
          <a:p>
            <a:pPr lvl="1">
              <a:lnSpc>
                <a:spcPct val="150000"/>
              </a:lnSpc>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gesture accuracy</a:t>
            </a:r>
            <a:r>
              <a:rPr lang="en-US" sz="2000" dirty="0">
                <a:latin typeface="Times New Roman" panose="02020603050405020304" pitchFamily="18" charset="0"/>
                <a:cs typeface="Times New Roman" panose="02020603050405020304" pitchFamily="18" charset="0"/>
              </a:rPr>
              <a:t> reached around </a:t>
            </a:r>
            <a:r>
              <a:rPr lang="en-US" sz="2000" b="1" dirty="0">
                <a:latin typeface="Times New Roman" panose="02020603050405020304" pitchFamily="18" charset="0"/>
                <a:cs typeface="Times New Roman" panose="02020603050405020304" pitchFamily="18" charset="0"/>
              </a:rPr>
              <a:t>25–30%</a:t>
            </a:r>
            <a:r>
              <a:rPr lang="en-US" sz="2000" dirty="0">
                <a:latin typeface="Times New Roman" panose="02020603050405020304" pitchFamily="18" charset="0"/>
                <a:cs typeface="Times New Roman" panose="02020603050405020304" pitchFamily="18" charset="0"/>
              </a:rPr>
              <a:t>, which indicates the model can recognize some gestures correctly but still needs improvement.</a:t>
            </a:r>
          </a:p>
          <a:p>
            <a:pPr lvl="1">
              <a:lnSpc>
                <a:spcPct val="150000"/>
              </a:lnSpc>
            </a:pPr>
            <a:r>
              <a:rPr lang="en-US" sz="2000" dirty="0">
                <a:latin typeface="Times New Roman" panose="02020603050405020304" pitchFamily="18" charset="0"/>
                <a:cs typeface="Times New Roman" panose="02020603050405020304" pitchFamily="18" charset="0"/>
              </a:rPr>
              <a:t>Accuracy can vary based on how much data is available and its quality.</a:t>
            </a:r>
          </a:p>
          <a:p>
            <a:pPr lvl="1">
              <a:lnSpc>
                <a:spcPct val="150000"/>
              </a:lnSpc>
            </a:pPr>
            <a:r>
              <a:rPr lang="en-US" sz="2000" dirty="0">
                <a:latin typeface="Times New Roman" panose="02020603050405020304" pitchFamily="18" charset="0"/>
                <a:cs typeface="Times New Roman" panose="02020603050405020304" pitchFamily="18" charset="0"/>
              </a:rPr>
              <a:t>Although the accuracy is not very high yet, the results confirm that the approach works and can be improved with cleaner data and better tuning.</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401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0254-BFFA-1CB1-0D26-CFAAD06BE26B}"/>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Challenges:</a:t>
            </a:r>
          </a:p>
        </p:txBody>
      </p:sp>
      <p:sp>
        <p:nvSpPr>
          <p:cNvPr id="3" name="Content Placeholder 2">
            <a:extLst>
              <a:ext uri="{FF2B5EF4-FFF2-40B4-BE49-F238E27FC236}">
                <a16:creationId xmlns:a16="http://schemas.microsoft.com/office/drawing/2014/main" id="{977B0ED8-0177-866F-0785-925E48FB22F5}"/>
              </a:ext>
            </a:extLst>
          </p:cNvPr>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Small Dataset(Under Fitting).</a:t>
            </a:r>
          </a:p>
          <a:p>
            <a:pPr>
              <a:lnSpc>
                <a:spcPct val="150000"/>
              </a:lnSpc>
            </a:pPr>
            <a:r>
              <a:rPr lang="en-US" sz="2000" dirty="0">
                <a:latin typeface="Times New Roman" panose="02020603050405020304" pitchFamily="18" charset="0"/>
                <a:cs typeface="Times New Roman" panose="02020603050405020304" pitchFamily="18" charset="0"/>
              </a:rPr>
              <a:t>Missing or misplaced transcription and kinematic files.</a:t>
            </a:r>
          </a:p>
          <a:p>
            <a:pPr>
              <a:lnSpc>
                <a:spcPct val="150000"/>
              </a:lnSpc>
            </a:pPr>
            <a:r>
              <a:rPr lang="en-US" sz="2000" dirty="0">
                <a:latin typeface="Times New Roman" panose="02020603050405020304" pitchFamily="18" charset="0"/>
                <a:cs typeface="Times New Roman" panose="02020603050405020304" pitchFamily="18" charset="0"/>
              </a:rPr>
              <a:t>Large data size leading to longer training times.</a:t>
            </a:r>
          </a:p>
          <a:p>
            <a:pPr>
              <a:lnSpc>
                <a:spcPct val="150000"/>
              </a:lnSpc>
            </a:pPr>
            <a:r>
              <a:rPr lang="en-US" sz="2000" dirty="0">
                <a:latin typeface="Times New Roman" panose="02020603050405020304" pitchFamily="18" charset="0"/>
                <a:cs typeface="Times New Roman" panose="02020603050405020304" pitchFamily="18" charset="0"/>
              </a:rPr>
              <a:t>Variation in how different surgeons perform actions.</a:t>
            </a:r>
          </a:p>
          <a:p>
            <a:pPr>
              <a:lnSpc>
                <a:spcPct val="150000"/>
              </a:lnSpc>
            </a:pPr>
            <a:r>
              <a:rPr lang="en-US" sz="2000" dirty="0">
                <a:latin typeface="Times New Roman" panose="02020603050405020304" pitchFamily="18" charset="0"/>
                <a:cs typeface="Times New Roman" panose="02020603050405020304" pitchFamily="18" charset="0"/>
              </a:rPr>
              <a:t>Training on CPU took longer time.</a:t>
            </a:r>
          </a:p>
          <a:p>
            <a:pPr>
              <a:lnSpc>
                <a:spcPct val="150000"/>
              </a:lnSpc>
            </a:pPr>
            <a:r>
              <a:rPr lang="en-US" sz="2000" dirty="0">
                <a:latin typeface="Times New Roman" panose="02020603050405020304" pitchFamily="18" charset="0"/>
                <a:cs typeface="Times New Roman" panose="02020603050405020304" pitchFamily="18" charset="0"/>
              </a:rPr>
              <a:t>These issues affected training accuracy but also helped identify key areas for future improvement.</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9594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60F25-6904-9B94-7F9F-69285B31C387}"/>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8F3A4258-8451-B373-6557-D7DB72F1A9E1}"/>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Train on a GPU.</a:t>
            </a:r>
          </a:p>
          <a:p>
            <a:r>
              <a:rPr lang="en-IN" sz="2000" dirty="0">
                <a:latin typeface="Times New Roman" panose="02020603050405020304" pitchFamily="18" charset="0"/>
                <a:cs typeface="Times New Roman" panose="02020603050405020304" pitchFamily="18" charset="0"/>
              </a:rPr>
              <a:t>Achieve Higher Accuracy.</a:t>
            </a:r>
          </a:p>
          <a:p>
            <a:r>
              <a:rPr lang="en-IN" sz="2000" dirty="0">
                <a:latin typeface="Times New Roman" panose="02020603050405020304" pitchFamily="18" charset="0"/>
                <a:cs typeface="Times New Roman" panose="02020603050405020304" pitchFamily="18" charset="0"/>
              </a:rPr>
              <a:t>Predicting just by giving Surgeon id.</a:t>
            </a:r>
          </a:p>
          <a:p>
            <a:r>
              <a:rPr lang="en-IN" sz="2000" dirty="0">
                <a:latin typeface="Times New Roman" panose="02020603050405020304" pitchFamily="18" charset="0"/>
                <a:cs typeface="Times New Roman" panose="02020603050405020304" pitchFamily="18" charset="0"/>
              </a:rPr>
              <a:t>Enhance Performance.</a:t>
            </a:r>
          </a:p>
          <a:p>
            <a:pPr marL="0" indent="0">
              <a:buNone/>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7524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DC089-04AA-0C51-A390-C688143B2AA5}"/>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8C8EC8E-07AD-0624-774C-B7261B9BC732}"/>
              </a:ext>
            </a:extLst>
          </p:cNvPr>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This project demonstrates that deep learning model can be used to analyze surgical data.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By combining </a:t>
            </a:r>
            <a:r>
              <a:rPr lang="en-US" sz="2000" b="1" dirty="0">
                <a:latin typeface="Times New Roman" panose="02020603050405020304" pitchFamily="18" charset="0"/>
                <a:cs typeface="Times New Roman" panose="02020603050405020304" pitchFamily="18" charset="0"/>
              </a:rPr>
              <a:t>Graph Convolutional Networks (GCN)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LSTM</a:t>
            </a:r>
            <a:r>
              <a:rPr lang="en-US" sz="2000" dirty="0">
                <a:latin typeface="Times New Roman" panose="02020603050405020304" pitchFamily="18" charset="0"/>
                <a:cs typeface="Times New Roman" panose="02020603050405020304" pitchFamily="18" charset="0"/>
              </a:rPr>
              <a:t>, we created a model that can automatically recognize surgical actions from motion data.</a:t>
            </a:r>
          </a:p>
          <a:p>
            <a:pPr>
              <a:lnSpc>
                <a:spcPct val="150000"/>
              </a:lnSpc>
            </a:pPr>
            <a:r>
              <a:rPr lang="en-US" sz="2000" dirty="0">
                <a:latin typeface="Times New Roman" panose="02020603050405020304" pitchFamily="18" charset="0"/>
                <a:cs typeface="Times New Roman" panose="02020603050405020304" pitchFamily="18" charset="0"/>
              </a:rPr>
              <a:t>Although the accuracy can be improved, the system provides a foundation for </a:t>
            </a:r>
            <a:r>
              <a:rPr lang="en-US" sz="2000" b="1" dirty="0">
                <a:latin typeface="Times New Roman" panose="02020603050405020304" pitchFamily="18" charset="0"/>
                <a:cs typeface="Times New Roman" panose="02020603050405020304" pitchFamily="18" charset="0"/>
              </a:rPr>
              <a:t>automated, data-driven skill evaluation</a:t>
            </a:r>
            <a:r>
              <a:rPr lang="en-US" sz="2000" dirty="0">
                <a:latin typeface="Times New Roman" panose="02020603050405020304" pitchFamily="18" charset="0"/>
                <a:cs typeface="Times New Roman" panose="02020603050405020304" pitchFamily="18" charset="0"/>
              </a:rPr>
              <a:t> in surgical training.</a:t>
            </a:r>
          </a:p>
          <a:p>
            <a:pPr>
              <a:lnSpc>
                <a:spcPct val="150000"/>
              </a:lnSpc>
            </a:pPr>
            <a:r>
              <a:rPr lang="en-US" sz="2000" dirty="0">
                <a:latin typeface="Times New Roman" panose="02020603050405020304" pitchFamily="18" charset="0"/>
                <a:cs typeface="Times New Roman" panose="02020603050405020304" pitchFamily="18" charset="0"/>
              </a:rPr>
              <a:t>In the future, with better data and refined models, this approach can help build intelligent surgical education tools and assist trainers in evaluating performance objectively.</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8607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491-3EDB-A0C6-7B31-C44F1BE75E69}"/>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References:</a:t>
            </a:r>
          </a:p>
        </p:txBody>
      </p:sp>
      <p:sp>
        <p:nvSpPr>
          <p:cNvPr id="10" name="Content Placeholder 9">
            <a:extLst>
              <a:ext uri="{FF2B5EF4-FFF2-40B4-BE49-F238E27FC236}">
                <a16:creationId xmlns:a16="http://schemas.microsoft.com/office/drawing/2014/main" id="{5D93E0AD-3D3D-1C33-180F-7086A6E94046}"/>
              </a:ext>
            </a:extLst>
          </p:cNvPr>
          <p:cNvSpPr>
            <a:spLocks noGrp="1"/>
          </p:cNvSpPr>
          <p:nvPr>
            <p:ph idx="1"/>
          </p:nvPr>
        </p:nvSpPr>
        <p:spPr>
          <a:xfrm>
            <a:off x="838200" y="1452000"/>
            <a:ext cx="10515600" cy="4351338"/>
          </a:xfrm>
        </p:spPr>
        <p:txBody>
          <a:bodyPr>
            <a:normAutofit fontScale="85000" lnSpcReduction="20000"/>
          </a:bodyPr>
          <a:lstStyle/>
          <a:p>
            <a:pPr marL="0" lvl="0" indent="0" eaLnBrk="0" fontAlgn="base" hangingPunct="0">
              <a:lnSpc>
                <a:spcPct val="170000"/>
              </a:lnSpc>
              <a:spcBef>
                <a:spcPct val="0"/>
              </a:spcBef>
              <a:spcAft>
                <a:spcPct val="0"/>
              </a:spcAft>
              <a:buNone/>
            </a:pPr>
            <a:endParaRPr lang="en-US" altLang="en-US" sz="2100" dirty="0">
              <a:latin typeface="Times New Roman" panose="02020603050405020304" pitchFamily="18" charset="0"/>
              <a:cs typeface="Times New Roman" panose="02020603050405020304" pitchFamily="18" charset="0"/>
            </a:endParaRPr>
          </a:p>
          <a:p>
            <a:pPr marL="0" lvl="0" indent="0" eaLnBrk="0" fontAlgn="base" hangingPunct="0">
              <a:lnSpc>
                <a:spcPct val="170000"/>
              </a:lnSpc>
              <a:spcBef>
                <a:spcPct val="0"/>
              </a:spcBef>
              <a:spcAft>
                <a:spcPct val="0"/>
              </a:spcAft>
              <a:buFontTx/>
              <a:buChar char="•"/>
            </a:pPr>
            <a:r>
              <a:rPr lang="en-US" altLang="en-US" sz="2100" dirty="0">
                <a:latin typeface="Times New Roman" panose="02020603050405020304" pitchFamily="18" charset="0"/>
                <a:cs typeface="Times New Roman" panose="02020603050405020304" pitchFamily="18" charset="0"/>
              </a:rPr>
              <a:t>Yanagida, Y., Takenaka, S., </a:t>
            </a:r>
            <a:r>
              <a:rPr lang="en-US" altLang="en-US" sz="2100" dirty="0" err="1">
                <a:latin typeface="Times New Roman" panose="02020603050405020304" pitchFamily="18" charset="0"/>
                <a:cs typeface="Times New Roman" panose="02020603050405020304" pitchFamily="18" charset="0"/>
              </a:rPr>
              <a:t>Kitaguchi</a:t>
            </a:r>
            <a:r>
              <a:rPr lang="en-US" altLang="en-US" sz="2100" dirty="0">
                <a:latin typeface="Times New Roman" panose="02020603050405020304" pitchFamily="18" charset="0"/>
                <a:cs typeface="Times New Roman" panose="02020603050405020304" pitchFamily="18" charset="0"/>
              </a:rPr>
              <a:t>, D. et al. (2025). Surgical skill assessment using an AI-based surgical phase recognition model for laparoscopic cholecystectomy. </a:t>
            </a:r>
            <a:r>
              <a:rPr lang="en-US" altLang="en-US" sz="2100" i="1" dirty="0">
                <a:latin typeface="Times New Roman" panose="02020603050405020304" pitchFamily="18" charset="0"/>
                <a:cs typeface="Times New Roman" panose="02020603050405020304" pitchFamily="18" charset="0"/>
              </a:rPr>
              <a:t>Surgical Endoscopy</a:t>
            </a:r>
            <a:r>
              <a:rPr lang="en-US" altLang="en-US" sz="2100" dirty="0">
                <a:latin typeface="Times New Roman" panose="02020603050405020304" pitchFamily="18" charset="0"/>
                <a:cs typeface="Times New Roman" panose="02020603050405020304" pitchFamily="18" charset="0"/>
              </a:rPr>
              <a:t>, 39, 5018–5026. </a:t>
            </a:r>
            <a:r>
              <a:rPr lang="en-US" altLang="en-US" sz="2100" dirty="0">
                <a:latin typeface="Times New Roman" panose="02020603050405020304" pitchFamily="18" charset="0"/>
                <a:cs typeface="Times New Roman" panose="02020603050405020304" pitchFamily="18" charset="0"/>
                <a:hlinkClick r:id="rId2"/>
              </a:rPr>
              <a:t>https://doi.org/10.1007/s00464-025-11903-1</a:t>
            </a:r>
            <a:r>
              <a:rPr lang="en-US" altLang="en-US" sz="2100" dirty="0">
                <a:latin typeface="Times New Roman" panose="02020603050405020304" pitchFamily="18" charset="0"/>
                <a:cs typeface="Times New Roman" panose="02020603050405020304" pitchFamily="18" charset="0"/>
              </a:rPr>
              <a:t> </a:t>
            </a:r>
          </a:p>
          <a:p>
            <a:pPr marL="0" lvl="0" indent="0" eaLnBrk="0" fontAlgn="base" hangingPunct="0">
              <a:lnSpc>
                <a:spcPct val="170000"/>
              </a:lnSpc>
              <a:spcBef>
                <a:spcPct val="0"/>
              </a:spcBef>
              <a:spcAft>
                <a:spcPct val="0"/>
              </a:spcAft>
              <a:buFontTx/>
              <a:buChar char="•"/>
            </a:pPr>
            <a:r>
              <a:rPr lang="en-US" altLang="en-US" sz="2100" dirty="0">
                <a:latin typeface="Times New Roman" panose="02020603050405020304" pitchFamily="18" charset="0"/>
                <a:cs typeface="Times New Roman" panose="02020603050405020304" pitchFamily="18" charset="0"/>
              </a:rPr>
              <a:t>Hisey, R., Lee, H., </a:t>
            </a:r>
            <a:r>
              <a:rPr lang="en-US" altLang="en-US" sz="2100" dirty="0" err="1">
                <a:latin typeface="Times New Roman" panose="02020603050405020304" pitchFamily="18" charset="0"/>
                <a:cs typeface="Times New Roman" panose="02020603050405020304" pitchFamily="18" charset="0"/>
              </a:rPr>
              <a:t>Duimering</a:t>
            </a:r>
            <a:r>
              <a:rPr lang="en-US" altLang="en-US" sz="2100" dirty="0">
                <a:latin typeface="Times New Roman" panose="02020603050405020304" pitchFamily="18" charset="0"/>
                <a:cs typeface="Times New Roman" panose="02020603050405020304" pitchFamily="18" charset="0"/>
              </a:rPr>
              <a:t>, A. et al. (2025). Objective skill assessment for cataract surgery from surgical microscope video. </a:t>
            </a:r>
            <a:r>
              <a:rPr lang="en-US" altLang="en-US" sz="2100" i="1" dirty="0">
                <a:latin typeface="Times New Roman" panose="02020603050405020304" pitchFamily="18" charset="0"/>
                <a:cs typeface="Times New Roman" panose="02020603050405020304" pitchFamily="18" charset="0"/>
              </a:rPr>
              <a:t>International Journal of Computer Assisted Radiology and Surgery</a:t>
            </a:r>
            <a:r>
              <a:rPr lang="en-US" altLang="en-US" sz="2100" dirty="0">
                <a:latin typeface="Times New Roman" panose="02020603050405020304" pitchFamily="18" charset="0"/>
                <a:cs typeface="Times New Roman" panose="02020603050405020304" pitchFamily="18" charset="0"/>
              </a:rPr>
              <a:t>. Advance online publication. </a:t>
            </a:r>
            <a:r>
              <a:rPr lang="en-US" altLang="en-US" sz="2100" dirty="0">
                <a:latin typeface="Times New Roman" panose="02020603050405020304" pitchFamily="18" charset="0"/>
                <a:cs typeface="Times New Roman" panose="02020603050405020304" pitchFamily="18" charset="0"/>
                <a:hlinkClick r:id="rId3"/>
              </a:rPr>
              <a:t>https://doi.org/10.1007/s11548-025-03366-5</a:t>
            </a:r>
            <a:r>
              <a:rPr lang="en-US" altLang="en-US" sz="2100" dirty="0">
                <a:latin typeface="Times New Roman" panose="02020603050405020304" pitchFamily="18" charset="0"/>
                <a:cs typeface="Times New Roman" panose="02020603050405020304" pitchFamily="18" charset="0"/>
              </a:rPr>
              <a:t> </a:t>
            </a:r>
          </a:p>
          <a:p>
            <a:pPr marL="0" lvl="0" indent="0" eaLnBrk="0" fontAlgn="base" hangingPunct="0">
              <a:lnSpc>
                <a:spcPct val="170000"/>
              </a:lnSpc>
              <a:spcBef>
                <a:spcPct val="0"/>
              </a:spcBef>
              <a:spcAft>
                <a:spcPct val="0"/>
              </a:spcAft>
              <a:buFontTx/>
              <a:buChar char="•"/>
            </a:pPr>
            <a:r>
              <a:rPr lang="en-US" altLang="en-US" sz="2100" dirty="0">
                <a:latin typeface="Times New Roman" panose="02020603050405020304" pitchFamily="18" charset="0"/>
                <a:cs typeface="Times New Roman" panose="02020603050405020304" pitchFamily="18" charset="0"/>
              </a:rPr>
              <a:t>Wan, B., </a:t>
            </a:r>
            <a:r>
              <a:rPr lang="en-US" altLang="en-US" sz="2100" dirty="0" err="1">
                <a:latin typeface="Times New Roman" panose="02020603050405020304" pitchFamily="18" charset="0"/>
                <a:cs typeface="Times New Roman" panose="02020603050405020304" pitchFamily="18" charset="0"/>
              </a:rPr>
              <a:t>Peven</a:t>
            </a:r>
            <a:r>
              <a:rPr lang="en-US" altLang="en-US" sz="2100" dirty="0">
                <a:latin typeface="Times New Roman" panose="02020603050405020304" pitchFamily="18" charset="0"/>
                <a:cs typeface="Times New Roman" panose="02020603050405020304" pitchFamily="18" charset="0"/>
              </a:rPr>
              <a:t>, M., Hager, G. et al. (2024). Spatial-temporal attention for video-based assessment of intraoperative surgical skill. </a:t>
            </a:r>
            <a:r>
              <a:rPr lang="en-US" altLang="en-US" sz="2100" i="1" dirty="0">
                <a:latin typeface="Times New Roman" panose="02020603050405020304" pitchFamily="18" charset="0"/>
                <a:cs typeface="Times New Roman" panose="02020603050405020304" pitchFamily="18" charset="0"/>
              </a:rPr>
              <a:t>Scientific Reports</a:t>
            </a:r>
            <a:r>
              <a:rPr lang="en-US" altLang="en-US" sz="2100" dirty="0">
                <a:latin typeface="Times New Roman" panose="02020603050405020304" pitchFamily="18" charset="0"/>
                <a:cs typeface="Times New Roman" panose="02020603050405020304" pitchFamily="18" charset="0"/>
              </a:rPr>
              <a:t>, 14, 26912. </a:t>
            </a:r>
            <a:r>
              <a:rPr lang="en-US" altLang="en-US" sz="2100" dirty="0">
                <a:latin typeface="Times New Roman" panose="02020603050405020304" pitchFamily="18" charset="0"/>
                <a:cs typeface="Times New Roman" panose="02020603050405020304" pitchFamily="18" charset="0"/>
                <a:hlinkClick r:id="rId4"/>
              </a:rPr>
              <a:t>https://doi.org/10.1038/s41598-024-77176-1</a:t>
            </a:r>
            <a:r>
              <a:rPr lang="en-US" altLang="en-US" sz="2100" dirty="0">
                <a:latin typeface="Times New Roman" panose="02020603050405020304" pitchFamily="18" charset="0"/>
                <a:cs typeface="Times New Roman" panose="02020603050405020304" pitchFamily="18" charset="0"/>
              </a:rPr>
              <a:t> </a:t>
            </a:r>
          </a:p>
          <a:p>
            <a:pPr marL="0" lvl="0" indent="0" eaLnBrk="0" fontAlgn="base" hangingPunct="0">
              <a:lnSpc>
                <a:spcPct val="170000"/>
              </a:lnSpc>
              <a:spcBef>
                <a:spcPct val="0"/>
              </a:spcBef>
              <a:spcAft>
                <a:spcPct val="0"/>
              </a:spcAft>
              <a:buFontTx/>
              <a:buChar char="•"/>
            </a:pPr>
            <a:r>
              <a:rPr lang="en-US" altLang="en-US" sz="2100" dirty="0" err="1">
                <a:latin typeface="Times New Roman" panose="02020603050405020304" pitchFamily="18" charset="0"/>
                <a:cs typeface="Times New Roman" panose="02020603050405020304" pitchFamily="18" charset="0"/>
              </a:rPr>
              <a:t>Ahmidi</a:t>
            </a:r>
            <a:r>
              <a:rPr lang="en-US" altLang="en-US" sz="2100" dirty="0">
                <a:latin typeface="Times New Roman" panose="02020603050405020304" pitchFamily="18" charset="0"/>
                <a:cs typeface="Times New Roman" panose="02020603050405020304" pitchFamily="18" charset="0"/>
              </a:rPr>
              <a:t>, N. et al. The JIGSAWS Dataset: A Surgical Gesture and Skill Assessment Benchmark. </a:t>
            </a:r>
          </a:p>
          <a:p>
            <a:endParaRPr lang="en-IN" dirty="0"/>
          </a:p>
        </p:txBody>
      </p:sp>
    </p:spTree>
    <p:extLst>
      <p:ext uri="{BB962C8B-B14F-4D97-AF65-F5344CB8AC3E}">
        <p14:creationId xmlns:p14="http://schemas.microsoft.com/office/powerpoint/2010/main" val="1532202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37F3E9-A169-7AA9-15AC-1EF0559F122C}"/>
              </a:ext>
            </a:extLst>
          </p:cNvPr>
          <p:cNvSpPr txBox="1"/>
          <p:nvPr/>
        </p:nvSpPr>
        <p:spPr>
          <a:xfrm>
            <a:off x="3696929" y="2694039"/>
            <a:ext cx="7413523"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THANK YOU</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5662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1130</Words>
  <Application>Microsoft Office PowerPoint</Application>
  <PresentationFormat>Widescreen</PresentationFormat>
  <Paragraphs>79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Surgical Skill Assessment using Graph-Based Modeling</vt:lpstr>
      <vt:lpstr>Abstract:</vt:lpstr>
      <vt:lpstr>Introduction:</vt:lpstr>
      <vt:lpstr>Problem Statement:       </vt:lpstr>
      <vt:lpstr>Objectives:         </vt:lpstr>
      <vt:lpstr>The JIGSAWS Dataset:      </vt:lpstr>
      <vt:lpstr>Model Architecture:</vt:lpstr>
      <vt:lpstr>Training Process:</vt:lpstr>
      <vt:lpstr>Results and Observations:</vt:lpstr>
      <vt:lpstr>Challenges:</vt:lpstr>
      <vt:lpstr>Future Work:</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Sahithi</dc:creator>
  <cp:lastModifiedBy>G Sahithi</cp:lastModifiedBy>
  <cp:revision>11</cp:revision>
  <dcterms:created xsi:type="dcterms:W3CDTF">2025-10-11T05:30:49Z</dcterms:created>
  <dcterms:modified xsi:type="dcterms:W3CDTF">2025-12-05T03:45:36Z</dcterms:modified>
</cp:coreProperties>
</file>